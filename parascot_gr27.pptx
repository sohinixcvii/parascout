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</p:sldIdLst>
  <p:sldSz cx="18288000" cy="10287000"/>
  <p:notesSz cx="6858000" cy="9144000"/>
  <p:embeddedFontLst>
    <p:embeddedFont>
      <p:font typeface="Canva Sans" panose="020B0503030501040103" pitchFamily="34" charset="0"/>
      <p:regular r:id="rId8"/>
    </p:embeddedFont>
    <p:embeddedFont>
      <p:font typeface="Canva Sans Bold" panose="020B0803030501040103" pitchFamily="34" charset="0"/>
      <p:regular r:id="rId9"/>
      <p:bold r:id="rId10"/>
    </p:embeddedFont>
    <p:embeddedFont>
      <p:font typeface="Inter" panose="02000503000000020004" pitchFamily="2" charset="0"/>
      <p:regular r:id="rId11"/>
    </p:embeddedFont>
    <p:embeddedFont>
      <p:font typeface="Inter Bold" panose="02000503000000020004" pitchFamily="2" charset="0"/>
      <p:regular r:id="rId12"/>
      <p:bold r:id="rId13"/>
    </p:embeddedFont>
    <p:embeddedFont>
      <p:font typeface="ITC Franklin Gothic LT Ultra-Bold" panose="020B0904030502020204" pitchFamily="34" charset="77"/>
      <p:regular r:id="rId14"/>
      <p:bold r:id="rId15"/>
    </p:embeddedFont>
    <p:embeddedFont>
      <p:font typeface="MS Reference Sans Serif" panose="020B0604030504040204" pitchFamily="34" charset="0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617" autoAdjust="0"/>
  </p:normalViewPr>
  <p:slideViewPr>
    <p:cSldViewPr>
      <p:cViewPr varScale="1">
        <p:scale>
          <a:sx n="84" d="100"/>
          <a:sy n="84" d="100"/>
        </p:scale>
        <p:origin x="23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hyperlink" Target="https://github.com/sohinixcvii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68907" y="950285"/>
            <a:ext cx="1296262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20"/>
              </a:lnSpc>
            </a:pPr>
            <a:r>
              <a:rPr lang="en-US" sz="11300" b="1" dirty="0" err="1">
                <a:solidFill>
                  <a:srgbClr val="DDEB9D"/>
                </a:solidFill>
                <a:latin typeface="ITC Franklin Gothic LT Ultra-Bold"/>
                <a:ea typeface="ITC Franklin Gothic LT Ultra-Bold"/>
                <a:cs typeface="ITC Franklin Gothic LT Ultra-Bold"/>
                <a:sym typeface="ITC Franklin Gothic LT Ultra-Bold"/>
              </a:rPr>
              <a:t>ParaScout</a:t>
            </a:r>
            <a:endParaRPr lang="en-US" sz="11300" b="1" dirty="0">
              <a:solidFill>
                <a:srgbClr val="DDEB9D"/>
              </a:solidFill>
              <a:latin typeface="ITC Franklin Gothic LT Ultra-Bold"/>
              <a:ea typeface="ITC Franklin Gothic LT Ultra-Bold"/>
              <a:cs typeface="ITC Franklin Gothic LT Ultra-Bold"/>
              <a:sym typeface="ITC Franklin Gothic LT Ultra-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72800" y="9236271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0" y="0"/>
                </a:moveTo>
                <a:lnTo>
                  <a:pt x="7315200" y="0"/>
                </a:lnTo>
                <a:lnTo>
                  <a:pt x="7315200" y="1050729"/>
                </a:lnTo>
                <a:lnTo>
                  <a:pt x="0" y="1050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0" y="0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7315200" y="1050729"/>
                </a:moveTo>
                <a:lnTo>
                  <a:pt x="0" y="10507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507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5604192"/>
            <a:ext cx="4316697" cy="4682808"/>
          </a:xfrm>
          <a:custGeom>
            <a:avLst/>
            <a:gdLst/>
            <a:ahLst/>
            <a:cxnLst/>
            <a:rect l="l" t="t" r="r" b="b"/>
            <a:pathLst>
              <a:path w="4316697" h="4682808">
                <a:moveTo>
                  <a:pt x="0" y="4682808"/>
                </a:moveTo>
                <a:lnTo>
                  <a:pt x="4316697" y="4682808"/>
                </a:lnTo>
                <a:lnTo>
                  <a:pt x="4316697" y="0"/>
                </a:lnTo>
                <a:lnTo>
                  <a:pt x="0" y="0"/>
                </a:lnTo>
                <a:lnTo>
                  <a:pt x="0" y="46828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38481" y="2606198"/>
            <a:ext cx="1102347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Group 27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3971303" y="64770"/>
            <a:ext cx="4316697" cy="4682808"/>
          </a:xfrm>
          <a:custGeom>
            <a:avLst/>
            <a:gdLst/>
            <a:ahLst/>
            <a:cxnLst/>
            <a:rect l="l" t="t" r="r" b="b"/>
            <a:pathLst>
              <a:path w="4316697" h="4682808">
                <a:moveTo>
                  <a:pt x="4316697" y="0"/>
                </a:moveTo>
                <a:lnTo>
                  <a:pt x="0" y="0"/>
                </a:lnTo>
                <a:lnTo>
                  <a:pt x="0" y="4682807"/>
                </a:lnTo>
                <a:lnTo>
                  <a:pt x="4316697" y="4682807"/>
                </a:lnTo>
                <a:lnTo>
                  <a:pt x="431669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2667000" y="3472100"/>
            <a:ext cx="20194171" cy="252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DDE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members: </a:t>
            </a:r>
            <a:r>
              <a:rPr lang="en-US" sz="3600" dirty="0">
                <a:solidFill>
                  <a:schemeClr val="bg2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/sohinixcvi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Sohini Dutta</a:t>
            </a:r>
            <a:r>
              <a:rPr lang="en-US" sz="3600" dirty="0">
                <a:solidFill>
                  <a:schemeClr val="bg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          Julius </a:t>
            </a:r>
            <a:r>
              <a:rPr lang="en-US" sz="3600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Chuhwak</a:t>
            </a:r>
            <a:r>
              <a:rPr lang="en-US" sz="3600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Matthew</a:t>
            </a:r>
          </a:p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   Kutay </a:t>
            </a:r>
            <a:r>
              <a:rPr lang="en-US" sz="3600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Arınç</a:t>
            </a:r>
            <a:r>
              <a:rPr lang="en-US" sz="3600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00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Çokluk</a:t>
            </a:r>
            <a:r>
              <a:rPr lang="en-US" sz="3600" u="sng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DDE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</a:t>
            </a:r>
            <a:r>
              <a:rPr lang="en-US" sz="3600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Sethulakshmi </a:t>
            </a:r>
            <a:r>
              <a:rPr lang="en-US" sz="3600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Vazhayil</a:t>
            </a:r>
            <a:endParaRPr lang="en-US" sz="3600" dirty="0">
              <a:solidFill>
                <a:srgbClr val="DDEB9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648200" y="6014996"/>
            <a:ext cx="798671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TA: Chaitanya </a:t>
            </a:r>
            <a:r>
              <a:rPr lang="en-US" sz="3599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Chawak</a:t>
            </a:r>
            <a:endParaRPr lang="en-US" sz="3599" dirty="0">
              <a:solidFill>
                <a:srgbClr val="DDEB9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AED2EF-0AB6-6151-BE86-CBA1962B1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211" y="6643368"/>
            <a:ext cx="5685577" cy="3198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1489" y="886461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43D60"/>
            </a:solidFill>
            <a:ln w="38100" cap="rnd">
              <a:solidFill>
                <a:srgbClr val="DDEB9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258730" y="1170939"/>
            <a:ext cx="672929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139238" y="3728402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219200" y="2181161"/>
            <a:ext cx="15924266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ParaScout</a:t>
            </a:r>
            <a:r>
              <a:rPr lang="en-US" sz="3399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is a tool for evaluating and visualizing how well a parameter space has been explored.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2244" y="3697868"/>
            <a:ext cx="9247102" cy="4002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1"/>
              </a:lnSpc>
            </a:pPr>
            <a:r>
              <a:rPr lang="en-US" sz="3236" b="1" u="sng" dirty="0" err="1">
                <a:solidFill>
                  <a:srgbClr val="DDE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ParaScout</a:t>
            </a:r>
            <a:r>
              <a:rPr lang="en-US" sz="3236" b="1" u="sng" dirty="0">
                <a:solidFill>
                  <a:srgbClr val="DDEB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aims to provide a lightweight framework for:</a:t>
            </a:r>
          </a:p>
          <a:p>
            <a:pPr>
              <a:lnSpc>
                <a:spcPts val="4531"/>
              </a:lnSpc>
            </a:pPr>
            <a:endParaRPr lang="en-US" sz="3236" b="1" u="sng" dirty="0">
              <a:solidFill>
                <a:srgbClr val="DDEB9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3746" lvl="1" indent="-514350">
              <a:lnSpc>
                <a:spcPts val="4531"/>
              </a:lnSpc>
              <a:buFont typeface="+mj-lt"/>
              <a:buAutoNum type="arabicPeriod"/>
            </a:pPr>
            <a:r>
              <a:rPr lang="en-US" sz="3236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Automatically identifying the dimensionality of the parameter space</a:t>
            </a:r>
          </a:p>
          <a:p>
            <a:pPr marL="863746" lvl="1" indent="-514350">
              <a:lnSpc>
                <a:spcPts val="4531"/>
              </a:lnSpc>
              <a:buFont typeface="+mj-lt"/>
              <a:buAutoNum type="arabicPeriod"/>
            </a:pPr>
            <a:r>
              <a:rPr lang="en-US" sz="3236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Generating appropriate </a:t>
            </a:r>
            <a:r>
              <a:rPr lang="en-US" sz="3236" dirty="0" err="1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visualisations</a:t>
            </a:r>
            <a:r>
              <a:rPr lang="en-US" sz="3236" dirty="0">
                <a:solidFill>
                  <a:srgbClr val="DDEB9D"/>
                </a:solidFill>
                <a:latin typeface="Canva Sans"/>
                <a:ea typeface="Canva Sans"/>
                <a:cs typeface="Canva Sans"/>
                <a:sym typeface="Canva Sans"/>
              </a:rPr>
              <a:t> for the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B09F6F-2D91-020E-7624-DAB41FA18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729" y="4168740"/>
            <a:ext cx="65024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43D60"/>
            </a:solidFill>
            <a:ln w="38100" cap="rnd">
              <a:solidFill>
                <a:srgbClr val="DDEB9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18333" y="2677160"/>
            <a:ext cx="16318795" cy="486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ParaScout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├──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parascout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/                          # Installable Python package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│       ├── __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init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__.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py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                # Public API and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visualise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() wrapper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│       ├──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dispatcher.py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          # Routes arrays to plotting functions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│       └─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plotting_functions.py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  #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plot_bubble_map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plot_volumetric_density</a:t>
            </a:r>
            <a:endParaRPr lang="en-US" sz="3399" dirty="0">
              <a:solidFill>
                <a:srgbClr val="DDEB9D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├── data/                                   # Place input data files here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├──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pyproject.toml</a:t>
            </a: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                       # Build configuration and metadata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└── </a:t>
            </a:r>
            <a:r>
              <a:rPr lang="en-US" sz="3399" dirty="0" err="1">
                <a:solidFill>
                  <a:srgbClr val="DDEB9D"/>
                </a:solidFill>
                <a:latin typeface="Inter"/>
                <a:ea typeface="Inter"/>
                <a:cs typeface="Inter"/>
                <a:sym typeface="Inter"/>
              </a:rPr>
              <a:t>README.md</a:t>
            </a:r>
            <a:endParaRPr lang="en-US" sz="3399" dirty="0">
              <a:solidFill>
                <a:srgbClr val="DDEB9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18333" y="1403990"/>
            <a:ext cx="8269179" cy="86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PACKAGE STRUCTURE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43D60"/>
            </a:solidFill>
            <a:ln w="38100" cap="rnd">
              <a:solidFill>
                <a:srgbClr val="DDEB9D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972800" y="92096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539687" y="1169340"/>
            <a:ext cx="672929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Installation</a:t>
            </a:r>
          </a:p>
          <a:p>
            <a:pPr algn="just">
              <a:lnSpc>
                <a:spcPts val="7279"/>
              </a:lnSpc>
            </a:pPr>
            <a:endParaRPr lang="en-US" sz="5199" b="1" dirty="0">
              <a:solidFill>
                <a:srgbClr val="DDEB9D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0" y="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7315200" y="1077329"/>
                </a:moveTo>
                <a:lnTo>
                  <a:pt x="0" y="10773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773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139238" y="3266440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B0260-6D4B-623E-0986-794C1CA4BB1E}"/>
              </a:ext>
            </a:extLst>
          </p:cNvPr>
          <p:cNvSpPr txBox="1"/>
          <p:nvPr/>
        </p:nvSpPr>
        <p:spPr>
          <a:xfrm>
            <a:off x="7848600" y="2364485"/>
            <a:ext cx="8277223" cy="707886"/>
          </a:xfrm>
          <a:custGeom>
            <a:avLst/>
            <a:gdLst>
              <a:gd name="csX0" fmla="*/ 0 w 8277223"/>
              <a:gd name="csY0" fmla="*/ 0 h 707886"/>
              <a:gd name="csX1" fmla="*/ 606996 w 8277223"/>
              <a:gd name="csY1" fmla="*/ 0 h 707886"/>
              <a:gd name="csX2" fmla="*/ 1048448 w 8277223"/>
              <a:gd name="csY2" fmla="*/ 0 h 707886"/>
              <a:gd name="csX3" fmla="*/ 1903761 w 8277223"/>
              <a:gd name="csY3" fmla="*/ 0 h 707886"/>
              <a:gd name="csX4" fmla="*/ 2510758 w 8277223"/>
              <a:gd name="csY4" fmla="*/ 0 h 707886"/>
              <a:gd name="csX5" fmla="*/ 3117754 w 8277223"/>
              <a:gd name="csY5" fmla="*/ 0 h 707886"/>
              <a:gd name="csX6" fmla="*/ 3973067 w 8277223"/>
              <a:gd name="csY6" fmla="*/ 0 h 707886"/>
              <a:gd name="csX7" fmla="*/ 4497291 w 8277223"/>
              <a:gd name="csY7" fmla="*/ 0 h 707886"/>
              <a:gd name="csX8" fmla="*/ 5352604 w 8277223"/>
              <a:gd name="csY8" fmla="*/ 0 h 707886"/>
              <a:gd name="csX9" fmla="*/ 6207917 w 8277223"/>
              <a:gd name="csY9" fmla="*/ 0 h 707886"/>
              <a:gd name="csX10" fmla="*/ 6897686 w 8277223"/>
              <a:gd name="csY10" fmla="*/ 0 h 707886"/>
              <a:gd name="csX11" fmla="*/ 8277223 w 8277223"/>
              <a:gd name="csY11" fmla="*/ 0 h 707886"/>
              <a:gd name="csX12" fmla="*/ 8277223 w 8277223"/>
              <a:gd name="csY12" fmla="*/ 346864 h 707886"/>
              <a:gd name="csX13" fmla="*/ 8277223 w 8277223"/>
              <a:gd name="csY13" fmla="*/ 707886 h 707886"/>
              <a:gd name="csX14" fmla="*/ 7587454 w 8277223"/>
              <a:gd name="csY14" fmla="*/ 707886 h 707886"/>
              <a:gd name="csX15" fmla="*/ 7063230 w 8277223"/>
              <a:gd name="csY15" fmla="*/ 707886 h 707886"/>
              <a:gd name="csX16" fmla="*/ 6373462 w 8277223"/>
              <a:gd name="csY16" fmla="*/ 707886 h 707886"/>
              <a:gd name="csX17" fmla="*/ 5518149 w 8277223"/>
              <a:gd name="csY17" fmla="*/ 707886 h 707886"/>
              <a:gd name="csX18" fmla="*/ 4828380 w 8277223"/>
              <a:gd name="csY18" fmla="*/ 707886 h 707886"/>
              <a:gd name="csX19" fmla="*/ 4386928 w 8277223"/>
              <a:gd name="csY19" fmla="*/ 707886 h 707886"/>
              <a:gd name="csX20" fmla="*/ 3862704 w 8277223"/>
              <a:gd name="csY20" fmla="*/ 707886 h 707886"/>
              <a:gd name="csX21" fmla="*/ 3007391 w 8277223"/>
              <a:gd name="csY21" fmla="*/ 707886 h 707886"/>
              <a:gd name="csX22" fmla="*/ 2317622 w 8277223"/>
              <a:gd name="csY22" fmla="*/ 707886 h 707886"/>
              <a:gd name="csX23" fmla="*/ 1793398 w 8277223"/>
              <a:gd name="csY23" fmla="*/ 707886 h 707886"/>
              <a:gd name="csX24" fmla="*/ 1103630 w 8277223"/>
              <a:gd name="csY24" fmla="*/ 707886 h 707886"/>
              <a:gd name="csX25" fmla="*/ 662178 w 8277223"/>
              <a:gd name="csY25" fmla="*/ 707886 h 707886"/>
              <a:gd name="csX26" fmla="*/ 0 w 8277223"/>
              <a:gd name="csY26" fmla="*/ 707886 h 707886"/>
              <a:gd name="csX27" fmla="*/ 0 w 8277223"/>
              <a:gd name="csY27" fmla="*/ 353943 h 707886"/>
              <a:gd name="csX28" fmla="*/ 0 w 8277223"/>
              <a:gd name="csY28" fmla="*/ 0 h 7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8277223" h="707886" extrusionOk="0">
                <a:moveTo>
                  <a:pt x="0" y="0"/>
                </a:moveTo>
                <a:cubicBezTo>
                  <a:pt x="122215" y="14482"/>
                  <a:pt x="328587" y="6231"/>
                  <a:pt x="606996" y="0"/>
                </a:cubicBezTo>
                <a:cubicBezTo>
                  <a:pt x="885405" y="-6231"/>
                  <a:pt x="831080" y="8606"/>
                  <a:pt x="1048448" y="0"/>
                </a:cubicBezTo>
                <a:cubicBezTo>
                  <a:pt x="1265816" y="-8606"/>
                  <a:pt x="1602926" y="9296"/>
                  <a:pt x="1903761" y="0"/>
                </a:cubicBezTo>
                <a:cubicBezTo>
                  <a:pt x="2204596" y="-9296"/>
                  <a:pt x="2213072" y="-23684"/>
                  <a:pt x="2510758" y="0"/>
                </a:cubicBezTo>
                <a:cubicBezTo>
                  <a:pt x="2808444" y="23684"/>
                  <a:pt x="2976098" y="-18592"/>
                  <a:pt x="3117754" y="0"/>
                </a:cubicBezTo>
                <a:cubicBezTo>
                  <a:pt x="3259410" y="18592"/>
                  <a:pt x="3798099" y="32620"/>
                  <a:pt x="3973067" y="0"/>
                </a:cubicBezTo>
                <a:cubicBezTo>
                  <a:pt x="4148035" y="-32620"/>
                  <a:pt x="4282379" y="-20063"/>
                  <a:pt x="4497291" y="0"/>
                </a:cubicBezTo>
                <a:cubicBezTo>
                  <a:pt x="4712203" y="20063"/>
                  <a:pt x="4953251" y="29350"/>
                  <a:pt x="5352604" y="0"/>
                </a:cubicBezTo>
                <a:cubicBezTo>
                  <a:pt x="5751957" y="-29350"/>
                  <a:pt x="6020348" y="36685"/>
                  <a:pt x="6207917" y="0"/>
                </a:cubicBezTo>
                <a:cubicBezTo>
                  <a:pt x="6395486" y="-36685"/>
                  <a:pt x="6657419" y="-22911"/>
                  <a:pt x="6897686" y="0"/>
                </a:cubicBezTo>
                <a:cubicBezTo>
                  <a:pt x="7137953" y="22911"/>
                  <a:pt x="7940927" y="37455"/>
                  <a:pt x="8277223" y="0"/>
                </a:cubicBezTo>
                <a:cubicBezTo>
                  <a:pt x="8267612" y="171982"/>
                  <a:pt x="8283112" y="265377"/>
                  <a:pt x="8277223" y="346864"/>
                </a:cubicBezTo>
                <a:cubicBezTo>
                  <a:pt x="8271334" y="428351"/>
                  <a:pt x="8285497" y="571025"/>
                  <a:pt x="8277223" y="707886"/>
                </a:cubicBezTo>
                <a:cubicBezTo>
                  <a:pt x="8105355" y="698520"/>
                  <a:pt x="7882008" y="709098"/>
                  <a:pt x="7587454" y="707886"/>
                </a:cubicBezTo>
                <a:cubicBezTo>
                  <a:pt x="7292900" y="706674"/>
                  <a:pt x="7170416" y="683749"/>
                  <a:pt x="7063230" y="707886"/>
                </a:cubicBezTo>
                <a:cubicBezTo>
                  <a:pt x="6956044" y="732023"/>
                  <a:pt x="6617972" y="738491"/>
                  <a:pt x="6373462" y="707886"/>
                </a:cubicBezTo>
                <a:cubicBezTo>
                  <a:pt x="6128952" y="677281"/>
                  <a:pt x="5692822" y="744841"/>
                  <a:pt x="5518149" y="707886"/>
                </a:cubicBezTo>
                <a:cubicBezTo>
                  <a:pt x="5343476" y="670931"/>
                  <a:pt x="4973188" y="724201"/>
                  <a:pt x="4828380" y="707886"/>
                </a:cubicBezTo>
                <a:cubicBezTo>
                  <a:pt x="4683572" y="691571"/>
                  <a:pt x="4560856" y="692133"/>
                  <a:pt x="4386928" y="707886"/>
                </a:cubicBezTo>
                <a:cubicBezTo>
                  <a:pt x="4213000" y="723639"/>
                  <a:pt x="3978307" y="722332"/>
                  <a:pt x="3862704" y="707886"/>
                </a:cubicBezTo>
                <a:cubicBezTo>
                  <a:pt x="3747101" y="693440"/>
                  <a:pt x="3348994" y="731133"/>
                  <a:pt x="3007391" y="707886"/>
                </a:cubicBezTo>
                <a:cubicBezTo>
                  <a:pt x="2665788" y="684639"/>
                  <a:pt x="2571909" y="715276"/>
                  <a:pt x="2317622" y="707886"/>
                </a:cubicBezTo>
                <a:cubicBezTo>
                  <a:pt x="2063335" y="700496"/>
                  <a:pt x="2029363" y="697448"/>
                  <a:pt x="1793398" y="707886"/>
                </a:cubicBezTo>
                <a:cubicBezTo>
                  <a:pt x="1557433" y="718324"/>
                  <a:pt x="1354322" y="688281"/>
                  <a:pt x="1103630" y="707886"/>
                </a:cubicBezTo>
                <a:cubicBezTo>
                  <a:pt x="852938" y="727491"/>
                  <a:pt x="874679" y="701589"/>
                  <a:pt x="662178" y="707886"/>
                </a:cubicBezTo>
                <a:cubicBezTo>
                  <a:pt x="449677" y="714183"/>
                  <a:pt x="312394" y="697541"/>
                  <a:pt x="0" y="707886"/>
                </a:cubicBezTo>
                <a:cubicBezTo>
                  <a:pt x="1692" y="581671"/>
                  <a:pt x="-16351" y="458750"/>
                  <a:pt x="0" y="353943"/>
                </a:cubicBezTo>
                <a:cubicBezTo>
                  <a:pt x="16351" y="249136"/>
                  <a:pt x="14285" y="140321"/>
                  <a:pt x="0" y="0"/>
                </a:cubicBezTo>
                <a:close/>
              </a:path>
            </a:pathLst>
          </a:custGeom>
          <a:noFill/>
          <a:ln>
            <a:solidFill>
              <a:schemeClr val="bg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2"/>
                </a:solidFill>
                <a:latin typeface="MS Reference Sans Serif" panose="020B0604030504040204" pitchFamily="34" charset="0"/>
              </a:rPr>
              <a:t>pip install </a:t>
            </a:r>
            <a:r>
              <a:rPr lang="en-US" sz="4000" dirty="0" err="1">
                <a:solidFill>
                  <a:schemeClr val="bg2"/>
                </a:solidFill>
                <a:latin typeface="MS Reference Sans Serif" panose="020B0604030504040204" pitchFamily="34" charset="0"/>
              </a:rPr>
              <a:t>parascout</a:t>
            </a:r>
            <a:endParaRPr lang="en-US" sz="4000" dirty="0">
              <a:solidFill>
                <a:schemeClr val="bg2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6FC9FA5E-B92F-A9A0-31AC-210A6DD730CD}"/>
              </a:ext>
            </a:extLst>
          </p:cNvPr>
          <p:cNvSpPr txBox="1"/>
          <p:nvPr/>
        </p:nvSpPr>
        <p:spPr>
          <a:xfrm>
            <a:off x="1734564" y="3956410"/>
            <a:ext cx="672929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Documentation</a:t>
            </a:r>
          </a:p>
          <a:p>
            <a:pPr algn="just">
              <a:lnSpc>
                <a:spcPts val="7279"/>
              </a:lnSpc>
            </a:pPr>
            <a:endParaRPr lang="en-US" sz="5199" b="1" dirty="0">
              <a:solidFill>
                <a:srgbClr val="DDEB9D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322F0-DB16-29E3-1B01-954F77359B5A}"/>
              </a:ext>
            </a:extLst>
          </p:cNvPr>
          <p:cNvSpPr txBox="1"/>
          <p:nvPr/>
        </p:nvSpPr>
        <p:spPr>
          <a:xfrm>
            <a:off x="6981823" y="492906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solidFill>
                  <a:schemeClr val="bg2"/>
                </a:solidFill>
              </a:rPr>
              <a:t>https://</a:t>
            </a:r>
            <a:r>
              <a:rPr lang="en-US" sz="2800" dirty="0" err="1">
                <a:solidFill>
                  <a:schemeClr val="bg2"/>
                </a:solidFill>
              </a:rPr>
              <a:t>parascout.readthedocs.io</a:t>
            </a:r>
            <a:r>
              <a:rPr lang="en-US" sz="2800" dirty="0">
                <a:solidFill>
                  <a:schemeClr val="bg2"/>
                </a:solidFill>
              </a:rPr>
              <a:t>/</a:t>
            </a:r>
            <a:r>
              <a:rPr lang="en-US" sz="2800" dirty="0" err="1">
                <a:solidFill>
                  <a:schemeClr val="bg2"/>
                </a:solidFill>
              </a:rPr>
              <a:t>en</a:t>
            </a:r>
            <a:r>
              <a:rPr lang="en-US" sz="2800" dirty="0">
                <a:solidFill>
                  <a:schemeClr val="bg2"/>
                </a:solidFill>
              </a:rPr>
              <a:t>/latest/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FA6CB1C5-BB9B-82D2-CB2C-B884F6F21336}"/>
              </a:ext>
            </a:extLst>
          </p:cNvPr>
          <p:cNvSpPr txBox="1"/>
          <p:nvPr/>
        </p:nvSpPr>
        <p:spPr>
          <a:xfrm>
            <a:off x="1765044" y="5912091"/>
            <a:ext cx="672929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 err="1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PyPi</a:t>
            </a: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 page</a:t>
            </a:r>
          </a:p>
          <a:p>
            <a:pPr algn="just">
              <a:lnSpc>
                <a:spcPts val="7279"/>
              </a:lnSpc>
            </a:pPr>
            <a:endParaRPr lang="en-US" sz="5199" b="1" dirty="0">
              <a:solidFill>
                <a:srgbClr val="DDEB9D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7E2557-3B52-C128-1D30-B368220A5278}"/>
              </a:ext>
            </a:extLst>
          </p:cNvPr>
          <p:cNvSpPr txBox="1"/>
          <p:nvPr/>
        </p:nvSpPr>
        <p:spPr>
          <a:xfrm>
            <a:off x="7162800" y="734455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solidFill>
                  <a:schemeClr val="bg2"/>
                </a:solidFill>
              </a:rPr>
              <a:t>https://</a:t>
            </a:r>
            <a:r>
              <a:rPr lang="en-US" sz="2800" dirty="0" err="1">
                <a:solidFill>
                  <a:schemeClr val="bg2"/>
                </a:solidFill>
              </a:rPr>
              <a:t>pypi.org</a:t>
            </a:r>
            <a:r>
              <a:rPr lang="en-US" sz="2800" dirty="0">
                <a:solidFill>
                  <a:schemeClr val="bg2"/>
                </a:solidFill>
              </a:rPr>
              <a:t>/project/</a:t>
            </a:r>
            <a:r>
              <a:rPr lang="en-US" sz="2800" dirty="0" err="1">
                <a:solidFill>
                  <a:schemeClr val="bg2"/>
                </a:solidFill>
              </a:rPr>
              <a:t>parascout</a:t>
            </a:r>
            <a:r>
              <a:rPr lang="en-US" sz="2800" dirty="0">
                <a:solidFill>
                  <a:schemeClr val="bg2"/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461AF-8619-4B74-1981-2E84CC96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DBC95C-A3B2-7908-2DFD-DF889558BDE1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788194-2E85-70A8-4A22-72E751BD4F7D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43D60"/>
            </a:solidFill>
            <a:ln w="38100" cap="rnd">
              <a:solidFill>
                <a:srgbClr val="DDEB9D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76C2F6-C842-AF76-8E1E-523369EF7E07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DB7910B-42E9-DB05-4695-51CC77D460F3}"/>
              </a:ext>
            </a:extLst>
          </p:cNvPr>
          <p:cNvSpPr/>
          <p:nvPr/>
        </p:nvSpPr>
        <p:spPr>
          <a:xfrm>
            <a:off x="10972800" y="9209671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7C998E-DF54-08A5-949A-965696D33F5C}"/>
              </a:ext>
            </a:extLst>
          </p:cNvPr>
          <p:cNvSpPr txBox="1"/>
          <p:nvPr/>
        </p:nvSpPr>
        <p:spPr>
          <a:xfrm>
            <a:off x="1539687" y="1169340"/>
            <a:ext cx="6729291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 dirty="0">
                <a:solidFill>
                  <a:srgbClr val="DDEB9D"/>
                </a:solidFill>
                <a:latin typeface="Inter Bold"/>
                <a:ea typeface="Inter Bold"/>
                <a:cs typeface="Inter Bold"/>
                <a:sym typeface="Inter Bold"/>
              </a:rPr>
              <a:t>A demo:</a:t>
            </a:r>
          </a:p>
          <a:p>
            <a:pPr algn="just">
              <a:lnSpc>
                <a:spcPts val="7279"/>
              </a:lnSpc>
            </a:pPr>
            <a:endParaRPr lang="en-US" sz="5199" b="1" dirty="0">
              <a:solidFill>
                <a:srgbClr val="DDEB9D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6066035-C1DB-4D2D-3D61-FE7E95F4A2A4}"/>
              </a:ext>
            </a:extLst>
          </p:cNvPr>
          <p:cNvSpPr/>
          <p:nvPr/>
        </p:nvSpPr>
        <p:spPr>
          <a:xfrm flipH="1" flipV="1">
            <a:off x="0" y="0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7315200" y="1077329"/>
                </a:moveTo>
                <a:lnTo>
                  <a:pt x="0" y="10773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773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83D0A0-164F-541A-21F4-974DFFFA50E6}"/>
              </a:ext>
            </a:extLst>
          </p:cNvPr>
          <p:cNvSpPr txBox="1"/>
          <p:nvPr/>
        </p:nvSpPr>
        <p:spPr>
          <a:xfrm>
            <a:off x="9139238" y="3266440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869728-E415-ACD3-338C-798669219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207" y="2285906"/>
            <a:ext cx="10957114" cy="3156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5CA53F-11E2-1E0C-9422-5A506C869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410" y="5037574"/>
            <a:ext cx="10551988" cy="38734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C07895-1106-24DC-6C2F-3ADA4914F536}"/>
              </a:ext>
            </a:extLst>
          </p:cNvPr>
          <p:cNvSpPr txBox="1"/>
          <p:nvPr/>
        </p:nvSpPr>
        <p:spPr>
          <a:xfrm>
            <a:off x="1581910" y="6169338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Clustered sampling spotted!!!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4AFA2F35-6D8D-8A3A-0E4D-CC45DBAA2EDB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4056295" y="6208184"/>
            <a:ext cx="1680631" cy="2895600"/>
          </a:xfrm>
          <a:prstGeom prst="curvedConnector2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3D70CA-AAD0-455C-C6F1-881E1DD2BD3E}"/>
              </a:ext>
            </a:extLst>
          </p:cNvPr>
          <p:cNvSpPr txBox="1"/>
          <p:nvPr/>
        </p:nvSpPr>
        <p:spPr>
          <a:xfrm>
            <a:off x="7941113" y="672053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set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41D47-733E-8CD7-BB4A-0A254F6B54B4}"/>
              </a:ext>
            </a:extLst>
          </p:cNvPr>
          <p:cNvSpPr txBox="1"/>
          <p:nvPr/>
        </p:nvSpPr>
        <p:spPr>
          <a:xfrm>
            <a:off x="13581699" y="68156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set B</a:t>
            </a:r>
          </a:p>
        </p:txBody>
      </p:sp>
    </p:spTree>
    <p:extLst>
      <p:ext uri="{BB962C8B-B14F-4D97-AF65-F5344CB8AC3E}">
        <p14:creationId xmlns:p14="http://schemas.microsoft.com/office/powerpoint/2010/main" val="179123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972800" y="9236271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0" y="0"/>
                </a:moveTo>
                <a:lnTo>
                  <a:pt x="7315200" y="0"/>
                </a:lnTo>
                <a:lnTo>
                  <a:pt x="7315200" y="1050729"/>
                </a:lnTo>
                <a:lnTo>
                  <a:pt x="0" y="1050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0" y="0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7315200" y="1050729"/>
                </a:moveTo>
                <a:lnTo>
                  <a:pt x="0" y="10507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507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5604192"/>
            <a:ext cx="4316697" cy="4682808"/>
          </a:xfrm>
          <a:custGeom>
            <a:avLst/>
            <a:gdLst/>
            <a:ahLst/>
            <a:cxnLst/>
            <a:rect l="l" t="t" r="r" b="b"/>
            <a:pathLst>
              <a:path w="4316697" h="4682808">
                <a:moveTo>
                  <a:pt x="0" y="4682808"/>
                </a:moveTo>
                <a:lnTo>
                  <a:pt x="4316697" y="4682808"/>
                </a:lnTo>
                <a:lnTo>
                  <a:pt x="4316697" y="0"/>
                </a:lnTo>
                <a:lnTo>
                  <a:pt x="0" y="0"/>
                </a:lnTo>
                <a:lnTo>
                  <a:pt x="0" y="46828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3971303" y="64770"/>
            <a:ext cx="4316697" cy="4682808"/>
          </a:xfrm>
          <a:custGeom>
            <a:avLst/>
            <a:gdLst/>
            <a:ahLst/>
            <a:cxnLst/>
            <a:rect l="l" t="t" r="r" b="b"/>
            <a:pathLst>
              <a:path w="4316697" h="4682808">
                <a:moveTo>
                  <a:pt x="4316697" y="0"/>
                </a:moveTo>
                <a:lnTo>
                  <a:pt x="0" y="0"/>
                </a:lnTo>
                <a:lnTo>
                  <a:pt x="0" y="4682807"/>
                </a:lnTo>
                <a:lnTo>
                  <a:pt x="4316697" y="4682807"/>
                </a:lnTo>
                <a:lnTo>
                  <a:pt x="431669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AC677-ADA8-DDBE-5A4E-EA67CA272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428" y="1828800"/>
            <a:ext cx="12353144" cy="662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182</Words>
  <Application>Microsoft Macintosh PowerPoint</Application>
  <PresentationFormat>Custom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Verdana</vt:lpstr>
      <vt:lpstr>Arial</vt:lpstr>
      <vt:lpstr>Canva Sans Bold</vt:lpstr>
      <vt:lpstr>Calibri</vt:lpstr>
      <vt:lpstr>Inter</vt:lpstr>
      <vt:lpstr>ITC Franklin Gothic LT Ultra-Bold</vt:lpstr>
      <vt:lpstr>Canva Sans</vt:lpstr>
      <vt:lpstr>MS Reference Sans Serif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Green Futuristic Modern Presentation</dc:title>
  <cp:lastModifiedBy>Sohini Dutta</cp:lastModifiedBy>
  <cp:revision>2</cp:revision>
  <dcterms:created xsi:type="dcterms:W3CDTF">2006-08-16T00:00:00Z</dcterms:created>
  <dcterms:modified xsi:type="dcterms:W3CDTF">2026-06-26T16:24:41Z</dcterms:modified>
  <dc:identifier>DAHNrk7tXis</dc:identifier>
</cp:coreProperties>
</file>